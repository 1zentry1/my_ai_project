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9" r:id="rId3"/>
  </p:sldMasterIdLst>
  <p:notesMasterIdLst>
    <p:notesMasterId r:id="rId10"/>
  </p:notesMasterIdLst>
  <p:handoutMasterIdLst>
    <p:handoutMasterId r:id="rId20"/>
  </p:handoutMasterIdLst>
  <p:sldIdLst>
    <p:sldId id="256" r:id="rId4"/>
    <p:sldId id="262" r:id="rId5"/>
    <p:sldId id="266" r:id="rId6"/>
    <p:sldId id="267" r:id="rId7"/>
    <p:sldId id="269" r:id="rId8"/>
    <p:sldId id="272" r:id="rId9"/>
    <p:sldId id="268" r:id="rId11"/>
    <p:sldId id="273" r:id="rId12"/>
    <p:sldId id="277" r:id="rId13"/>
    <p:sldId id="278" r:id="rId14"/>
    <p:sldId id="274" r:id="rId15"/>
    <p:sldId id="279" r:id="rId16"/>
    <p:sldId id="280" r:id="rId17"/>
    <p:sldId id="275" r:id="rId18"/>
    <p:sldId id="276" r:id="rId19"/>
  </p:sldIdLst>
  <p:sldSz cx="12192000" cy="6858000"/>
  <p:notesSz cx="7103745" cy="10234295"/>
  <p:embeddedFontLst>
    <p:embeddedFont>
      <p:font typeface="Calibri Light" panose="020F0302020204030204" pitchFamily="34" charset="0"/>
      <p:regular r:id="rId24"/>
      <p:italic r:id="rId25"/>
    </p:embeddedFont>
    <p:embeddedFont>
      <p:font typeface="Verdana" panose="020B0604030504040204" charset="0"/>
      <p:regular r:id="rId26"/>
    </p:embeddedFont>
    <p:embeddedFont>
      <p:font typeface="Microsoft YaHei" panose="020B0503020204020204" charset="-122"/>
      <p:regular r:id="rId27"/>
    </p:embeddedFont>
    <p:embeddedFont>
      <p:font typeface="Manrope ExtraBold" charset="0"/>
      <p:bold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326672222222222"/>
          <c:y val="0.00517787532067067"/>
          <c:w val="0.953398055555556"/>
          <c:h val="0.54177630897471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Ряды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mapillary_final (тротуар)</c:v>
                </c:pt>
                <c:pt idx="1">
                  <c:v>my37_pure (на 37 кадрах)</c:v>
                </c:pt>
                <c:pt idx="2">
                  <c:v>mixed_v1 (смесь Mapillary + 37 своих)</c:v>
                </c:pt>
                <c:pt idx="3">
                  <c:v>mixed_v2 (70 своих)</c:v>
                </c:pt>
                <c:pt idx="4">
                  <c:v>mixed_v3 (865 своих)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0.009</c:v>
                </c:pt>
                <c:pt idx="1">
                  <c:v>0.986</c:v>
                </c:pt>
                <c:pt idx="2">
                  <c:v>0.507</c:v>
                </c:pt>
                <c:pt idx="3">
                  <c:v>0.921</c:v>
                </c:pt>
                <c:pt idx="4">
                  <c:v>0.982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mapillary_final (тротуар)</c:v>
                </c:pt>
                <c:pt idx="1">
                  <c:v>my37_pure (на 37 кадрах)</c:v>
                </c:pt>
                <c:pt idx="2">
                  <c:v>mixed_v1 (смесь Mapillary + 37 своих)</c:v>
                </c:pt>
                <c:pt idx="3">
                  <c:v>mixed_v2 (70 своих)</c:v>
                </c:pt>
                <c:pt idx="4">
                  <c:v>mixed_v3 (865 своих)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bg1"/>
              </a:solidFill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mapillary_final (тротуар)</c:v>
                </c:pt>
                <c:pt idx="1">
                  <c:v>my37_pure (на 37 кадрах)</c:v>
                </c:pt>
                <c:pt idx="2">
                  <c:v>mixed_v1 (смесь Mapillary + 37 своих)</c:v>
                </c:pt>
                <c:pt idx="3">
                  <c:v>mixed_v2 (70 своих)</c:v>
                </c:pt>
                <c:pt idx="4">
                  <c:v>mixed_v3 (865 своих)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6"/>
        <c:overlap val="100"/>
        <c:axId val="325941978"/>
        <c:axId val="511877105"/>
      </c:barChart>
      <c:catAx>
        <c:axId val="32594197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400" b="0" i="0" u="none" strike="noStrike" kern="8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Microsoft YaHei" panose="020B0503020204020204" charset="-122"/>
                <a:cs typeface="+mn-cs"/>
              </a:defRPr>
            </a:pPr>
          </a:p>
        </c:txPr>
        <c:crossAx val="511877105"/>
        <c:crosses val="autoZero"/>
        <c:auto val="1"/>
        <c:lblAlgn val="ctr"/>
        <c:lblOffset val="100"/>
        <c:noMultiLvlLbl val="0"/>
      </c:catAx>
      <c:valAx>
        <c:axId val="51187710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ru-RU" sz="14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Malgun Gothic" panose="020B0503020000020004" charset="-127"/>
                <a:cs typeface="+mn-cs"/>
              </a:defRPr>
            </a:pPr>
          </a:p>
        </c:txPr>
        <c:crossAx val="32594197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ru-RU" sz="13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Malgun Gothic" panose="020B0503020000020004" charset="-127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ru-RU" sz="13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Malgun Gothic" panose="020B0503020000020004" charset="-127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ru-RU" sz="1300" b="0" i="0" u="none" strike="noStrike" kern="1200" cap="none" spc="0" normalizeH="0" baseline="0">
                <a:solidFill>
                  <a:schemeClr val="tx1"/>
                </a:solidFill>
                <a:uFill>
                  <a:solidFill>
                    <a:schemeClr val="tx1"/>
                  </a:solidFill>
                </a:uFill>
                <a:latin typeface="+mn-lt"/>
                <a:ea typeface="Malgun Gothic" panose="020B0503020000020004" charset="-127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ru-RU" sz="1300" b="0" i="0" u="none" strike="noStrike" kern="1200" cap="none" spc="0" normalizeH="0" baseline="0">
              <a:solidFill>
                <a:schemeClr val="tx1"/>
              </a:solidFill>
              <a:uFill>
                <a:solidFill>
                  <a:schemeClr val="tx1"/>
                </a:solidFill>
              </a:uFill>
              <a:latin typeface="+mn-lt"/>
              <a:ea typeface="Malgun Gothic" panose="020B0503020000020004" charset="-127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b0fe661-34aa-444b-a74f-418022da4711}"/>
      </c:ext>
    </c:extLst>
  </c:chart>
  <c:spPr>
    <a:noFill/>
    <a:ln>
      <a:noFill/>
    </a:ln>
    <a:effectLst/>
  </c:spPr>
  <c:txPr>
    <a:bodyPr/>
    <a:lstStyle/>
    <a:p>
      <a:pPr>
        <a:defRPr lang="ru-RU" sz="1300" u="none" strike="noStrike" kern="1200" cap="none" spc="0" normalizeH="0">
          <a:solidFill>
            <a:schemeClr val="tx1"/>
          </a:solidFill>
          <a:uFill>
            <a:solidFill>
              <a:schemeClr val="tx1"/>
            </a:solidFill>
          </a:uFill>
          <a:ea typeface="Malgun Gothic" panose="020B0503020000020004" charset="-127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+mn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+mn-lt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+mn-lt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82.xml"/><Relationship Id="rId3" Type="http://schemas.openxmlformats.org/officeDocument/2006/relationships/image" Target="../media/image1.jpe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tags" Target="../tags/tag92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07.xml"/><Relationship Id="rId11" Type="http://schemas.openxmlformats.org/officeDocument/2006/relationships/tags" Target="../tags/tag106.xml"/><Relationship Id="rId10" Type="http://schemas.openxmlformats.org/officeDocument/2006/relationships/tags" Target="../tags/tag105.xml"/><Relationship Id="rId1" Type="http://schemas.openxmlformats.org/officeDocument/2006/relationships/tags" Target="../tags/tag9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09.xml"/><Relationship Id="rId3" Type="http://schemas.openxmlformats.org/officeDocument/2006/relationships/image" Target="../media/image4.png"/><Relationship Id="rId2" Type="http://schemas.openxmlformats.org/officeDocument/2006/relationships/hyperlink" Target="https://makesense.ai" TargetMode="External"/><Relationship Id="rId1" Type="http://schemas.openxmlformats.org/officeDocument/2006/relationships/tags" Target="../tags/tag10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18.xml"/><Relationship Id="rId2" Type="http://schemas.openxmlformats.org/officeDocument/2006/relationships/image" Target="../media/image5.png"/><Relationship Id="rId1" Type="http://schemas.openxmlformats.org/officeDocument/2006/relationships/tags" Target="../tags/tag117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20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tags" Target="../tags/tag119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3.xml"/><Relationship Id="rId3" Type="http://schemas.openxmlformats.org/officeDocument/2006/relationships/image" Target="../media/image10.png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6.xml"/><Relationship Id="rId3" Type="http://schemas.openxmlformats.org/officeDocument/2006/relationships/image" Target="../media/image11.png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21840" y="876300"/>
            <a:ext cx="9231630" cy="125603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ru-RU" sz="2800">
                <a:latin typeface="Verdana" panose="020B0604030504040204" charset="0"/>
                <a:cs typeface="Verdana" panose="020B0604030504040204" charset="0"/>
              </a:rPr>
              <a:t>ParkGuard AI – </a:t>
            </a:r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интеллектуальная система детекции нарушений парковки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4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301625" y="4556760"/>
            <a:ext cx="7492365" cy="897890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Научный руководитель: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Крапивина Милада Андреевна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endParaRPr lang="ru-RU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5" name="Текстовое поле 14"/>
          <p:cNvSpPr txBox="1"/>
          <p:nvPr/>
        </p:nvSpPr>
        <p:spPr>
          <a:xfrm>
            <a:off x="2553970" y="3075940"/>
            <a:ext cx="92322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Автоматическое выявление автомобилей на тротуарах с помощью компьютерного зрения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18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01625" y="5581650"/>
            <a:ext cx="7492365" cy="89789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Выполнил</a:t>
            </a: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: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mar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</a:pP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Омельченко Андрей Юрьевич</a:t>
            </a:r>
            <a:endParaRPr lang="ru-RU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Актуальность работы</a:t>
            </a:r>
            <a:endParaRPr lang="ru-RU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1364615"/>
            <a:ext cx="6482080" cy="3534410"/>
          </a:xfrm>
        </p:spPr>
        <p:txBody>
          <a:bodyPr>
            <a:normAutofit lnSpcReduction="10000"/>
          </a:bodyPr>
          <a:p>
            <a:pPr algn="l"/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Большинство жалоб жителей – незаконная парковка во дворах и на тротуарах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Ручной контроль не справляется: инспекторов не хватает, камеры – только на магистралях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Машины разрушают благоустройство и создают бюджетные расходы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Пешеходы вынуждены обходить автомобили по проезжей части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endParaRPr lang="en-US" altLang="en-US">
              <a:latin typeface="Verdana" panose="020B0604030504040204" charset="0"/>
              <a:cs typeface="Verdana" panose="020B0604030504040204" charset="0"/>
            </a:endParaRPr>
          </a:p>
          <a:p>
            <a:endParaRPr lang="en-US" altLang="en-US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94690" y="6170930"/>
            <a:ext cx="11304270" cy="4000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 b="1">
                <a:latin typeface="Verdana" panose="020B0604030504040204" charset="0"/>
                <a:cs typeface="Verdana" panose="020B0604030504040204" charset="0"/>
              </a:rPr>
              <a:t>«Парковка на тротуаре – угроза безопасности и благоустройству города»</a:t>
            </a:r>
            <a:endParaRPr lang="en-US" altLang="en-US" sz="2000" b="1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5" name="Изображение 4" descr="origin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2101215"/>
            <a:ext cx="4340860" cy="29654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4800" y="226650"/>
            <a:ext cx="10800000" cy="720000"/>
          </a:xfrm>
        </p:spPr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Цель проекта: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994410"/>
            <a:ext cx="11055350" cy="1263015"/>
          </a:xfrm>
        </p:spPr>
        <p:txBody>
          <a:bodyPr>
            <a:no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Создать систему компьютерного зрения, способную в автоматическом режиме выявлять автомобили, припаркованные на тротуарах, и предоставлять наглядный результат для контроля и аналитики.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Заголовок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690" y="2257425"/>
            <a:ext cx="10800080" cy="59817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Задачи: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6" name="Замещающее содержимое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4690" y="2937510"/>
            <a:ext cx="11146790" cy="3584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Собрать и разметить датасет из реальных городских сцен с нарушениями парковки (&gt; 800 изображений)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Обучить и оптимизировать модель сегментации (</a:t>
            </a:r>
            <a:r>
              <a:rPr lang="en-US" altLang="ru-RU" sz="2000">
                <a:latin typeface="Verdana" panose="020B0604030504040204" charset="0"/>
                <a:cs typeface="Verdana" panose="020B0604030504040204" charset="0"/>
              </a:rPr>
              <a:t>YOLO11m‑seg) </a:t>
            </a: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с точностью детекции тротуаров и автомобилей выше 97 %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Реализовать алгоритм постобработки для автоматического определения факта нарушения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Разработать веб-интерфейс для загрузки фотографий и визуализации результатов</a:t>
            </a:r>
            <a:r>
              <a:rPr lang="ru-RU" altLang="en-US" sz="2000"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Проблематика и технологии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4690" y="1364615"/>
            <a:ext cx="8036560" cy="1630045"/>
          </a:xfrm>
        </p:spPr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Почему это сложно для классических камер: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Разнообразие ракурсов, освещения, погоды</a:t>
            </a:r>
            <a:r>
              <a:rPr lang="ru-RU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2000" i="1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Перекрытие объектов (машина загораживает тротуар)</a:t>
            </a:r>
            <a:r>
              <a:rPr lang="ru-RU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2000" i="1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Отсутствие 3</a:t>
            </a:r>
            <a:r>
              <a:rPr lang="en-US" altLang="ru-RU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D-</a:t>
            </a:r>
            <a:r>
              <a:rPr lang="en-US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информации на 2</a:t>
            </a:r>
            <a:r>
              <a:rPr lang="en-US" altLang="ru-RU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D-</a:t>
            </a:r>
            <a:r>
              <a:rPr lang="en-US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снимке</a:t>
            </a:r>
            <a:r>
              <a:rPr lang="ru-RU" altLang="en-US" sz="200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i="1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Замещающее содержимое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4690" y="3121660"/>
            <a:ext cx="8036560" cy="1968500"/>
          </a:xfrm>
          <a:prstGeom prst="rect">
            <a:avLst/>
          </a:prstGeom>
        </p:spPr>
        <p:txBody>
          <a:bodyPr vert="horz" wrap="square" lIns="0" tIns="0" rIns="0" bIns="0" rtlCol="0">
            <a:normAutofit fontScale="90000" lnSpcReduction="10000"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220">
                <a:latin typeface="Verdana" panose="020B0604030504040204" charset="0"/>
                <a:cs typeface="Verdana" panose="020B0604030504040204" charset="0"/>
              </a:rPr>
              <a:t>Почему выбрана сегментация, а не детекция:</a:t>
            </a:r>
            <a:endParaRPr lang="en-US" altLang="en-US" sz="2220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Нужно знать точные границы тротуара, чтобы оценить пересечение с машиной</a:t>
            </a:r>
            <a:r>
              <a:rPr lang="ru-RU" altLang="en-US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2220" i="1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Простого </a:t>
            </a:r>
            <a:r>
              <a:rPr lang="en-US" altLang="ru-RU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bounding box </a:t>
            </a:r>
            <a:r>
              <a:rPr lang="en-US" altLang="en-US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недостаточно – он может захватить «воздух»</a:t>
            </a:r>
            <a:r>
              <a:rPr lang="ru-RU" altLang="en-US" sz="2220" i="1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220" i="1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5" name="Замещающее содержимое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94690" y="5227955"/>
            <a:ext cx="8037195" cy="117983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Итог:</a:t>
            </a:r>
            <a:r>
              <a:rPr lang="ru-RU" altLang="en-US" sz="200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 н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ам нужна модель, которая пиксель-в-пиксель разделяет сцену на классы → </a:t>
            </a:r>
            <a:r>
              <a:rPr lang="en-US" altLang="ru-RU" sz="2000" i="1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YOLO11m-seg</a:t>
            </a:r>
            <a:r>
              <a:rPr lang="ru-RU" altLang="en-US" sz="2000" i="1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i="1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6" name="Изображение 5" descr="detection_bbo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035" y="1080135"/>
            <a:ext cx="3164840" cy="2373630"/>
          </a:xfrm>
          <a:prstGeom prst="rect">
            <a:avLst/>
          </a:prstGeom>
        </p:spPr>
      </p:pic>
      <p:pic>
        <p:nvPicPr>
          <p:cNvPr id="7" name="Изображение 6" descr="segmentation_mas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6970" y="4024630"/>
            <a:ext cx="3176905" cy="2383155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9689465" y="711835"/>
            <a:ext cx="16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(детекция)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9439275" y="3656330"/>
            <a:ext cx="2181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(сегментация)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Как устроена нейронная сеть внутри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Контент: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latin typeface="Verdana" panose="020B0604030504040204" charset="0"/>
                <a:cs typeface="Verdana" panose="020B0604030504040204" charset="0"/>
              </a:rPr>
              <a:t>Нейронная сеть — это математическая модель, состоящая из слоёв нейронов, соединённых синапсами с разными весами.</a:t>
            </a:r>
            <a:endParaRPr lang="en-US" altLang="en-US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endParaRPr lang="en-US" altLang="ru-RU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latin typeface="Verdana" panose="020B0604030504040204" charset="0"/>
                <a:cs typeface="Verdana" panose="020B0604030504040204" charset="0"/>
              </a:rPr>
              <a:t>Обучение заключается в постепенной настройке весов так, чтобы ошибка предсказаний уменьшалась.</a:t>
            </a:r>
            <a:endParaRPr lang="en-US" altLang="en-US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endParaRPr lang="en-US" altLang="ru-RU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en-US" sz="2000" i="1">
                <a:latin typeface="Verdana" panose="020B0604030504040204" charset="0"/>
                <a:cs typeface="Verdana" panose="020B0604030504040204" charset="0"/>
              </a:rPr>
              <a:t>Свёрточные нейронные сети (</a:t>
            </a:r>
            <a:r>
              <a:rPr lang="en-US" altLang="ru-RU" sz="2000" i="1">
                <a:latin typeface="Verdana" panose="020B0604030504040204" charset="0"/>
                <a:cs typeface="Verdana" panose="020B0604030504040204" charset="0"/>
              </a:rPr>
              <a:t>CNN) </a:t>
            </a:r>
            <a:r>
              <a:rPr lang="en-US" altLang="en-US" sz="2000" i="1">
                <a:latin typeface="Verdana" panose="020B0604030504040204" charset="0"/>
                <a:cs typeface="Verdana" panose="020B0604030504040204" charset="0"/>
              </a:rPr>
              <a:t>специально разработаны для работы с изображениями: они выделяют края, текстуры, объекты.</a:t>
            </a:r>
            <a:endParaRPr lang="en-US" altLang="en-US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endParaRPr lang="en-US" altLang="ru-RU" sz="2000" i="1">
              <a:latin typeface="Verdana" panose="020B0604030504040204" charset="0"/>
              <a:cs typeface="Verdana" panose="020B060403050404020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ru-RU" sz="2000" i="1">
                <a:latin typeface="Verdana" panose="020B0604030504040204" charset="0"/>
                <a:cs typeface="Verdana" panose="020B0604030504040204" charset="0"/>
              </a:rPr>
              <a:t>YOLO11 — </a:t>
            </a:r>
            <a:r>
              <a:rPr lang="en-US" altLang="en-US" sz="2000" i="1">
                <a:latin typeface="Verdana" panose="020B0604030504040204" charset="0"/>
                <a:cs typeface="Verdana" panose="020B0604030504040204" charset="0"/>
              </a:rPr>
              <a:t>современная архитектура, которая одновременно находит объекты и строит их точные контуры (сегментация).</a:t>
            </a:r>
            <a:endParaRPr lang="en-US" altLang="en-US" sz="2000" i="1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z="3110" spc="0" dirty="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Где ещё </a:t>
            </a:r>
            <a:r>
              <a:rPr lang="ru-RU" altLang="en-US" sz="3110" spc="0" dirty="0">
                <a:solidFill>
                  <a:schemeClr val="tx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применяют компьютерное зрение</a:t>
            </a:r>
            <a:endParaRPr lang="ru-RU" altLang="en-US" sz="3110" spc="0" dirty="0">
              <a:solidFill>
                <a:schemeClr val="tx1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8" name="任意多边形: 形状 8"/>
          <p:cNvSpPr/>
          <p:nvPr>
            <p:custDataLst>
              <p:tags r:id="rId2"/>
            </p:custDataLst>
          </p:nvPr>
        </p:nvSpPr>
        <p:spPr>
          <a:xfrm>
            <a:off x="1964116" y="1737770"/>
            <a:ext cx="3600624" cy="1824126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1">
                  <a:lumMod val="60000"/>
                  <a:lumOff val="40000"/>
                  <a:alpha val="0"/>
                </a:schemeClr>
              </a:gs>
              <a:gs pos="3000">
                <a:schemeClr val="accent1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任意多边形: 形状 9"/>
          <p:cNvSpPr/>
          <p:nvPr>
            <p:custDataLst>
              <p:tags r:id="rId3"/>
            </p:custDataLst>
          </p:nvPr>
        </p:nvSpPr>
        <p:spPr>
          <a:xfrm flipH="1">
            <a:off x="6582059" y="1737770"/>
            <a:ext cx="3600624" cy="1824126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2">
                  <a:lumMod val="60000"/>
                  <a:lumOff val="40000"/>
                  <a:alpha val="0"/>
                </a:schemeClr>
              </a:gs>
              <a:gs pos="3000">
                <a:schemeClr val="accent2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任意多边形: 形状 17"/>
          <p:cNvSpPr/>
          <p:nvPr>
            <p:custDataLst>
              <p:tags r:id="rId4"/>
            </p:custDataLst>
          </p:nvPr>
        </p:nvSpPr>
        <p:spPr>
          <a:xfrm flipV="1">
            <a:off x="1964116" y="4294404"/>
            <a:ext cx="3600624" cy="1824126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3">
                  <a:lumMod val="60000"/>
                  <a:lumOff val="40000"/>
                  <a:alpha val="0"/>
                </a:schemeClr>
              </a:gs>
              <a:gs pos="3000">
                <a:schemeClr val="accent3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任意多边形: 形状 18"/>
          <p:cNvSpPr/>
          <p:nvPr>
            <p:custDataLst>
              <p:tags r:id="rId5"/>
            </p:custDataLst>
          </p:nvPr>
        </p:nvSpPr>
        <p:spPr>
          <a:xfrm flipH="1" flipV="1">
            <a:off x="6582059" y="4294404"/>
            <a:ext cx="3600624" cy="1824126"/>
          </a:xfrm>
          <a:custGeom>
            <a:avLst/>
            <a:gdLst>
              <a:gd name="connsiteX0" fmla="*/ 2381250 w 3600450"/>
              <a:gd name="connsiteY0" fmla="*/ 0 h 1752600"/>
              <a:gd name="connsiteX1" fmla="*/ 3600450 w 3600450"/>
              <a:gd name="connsiteY1" fmla="*/ 1752600 h 1752600"/>
              <a:gd name="connsiteX2" fmla="*/ 0 w 3600450"/>
              <a:gd name="connsiteY2" fmla="*/ 1752600 h 1752600"/>
              <a:gd name="connsiteX3" fmla="*/ 2381250 w 3600450"/>
              <a:gd name="connsiteY3" fmla="*/ 0 h 1752600"/>
              <a:gd name="connsiteX0-1" fmla="*/ 2371725 w 3600450"/>
              <a:gd name="connsiteY0-2" fmla="*/ 0 h 1824038"/>
              <a:gd name="connsiteX1-3" fmla="*/ 3600450 w 3600450"/>
              <a:gd name="connsiteY1-4" fmla="*/ 1824038 h 1824038"/>
              <a:gd name="connsiteX2-5" fmla="*/ 0 w 3600450"/>
              <a:gd name="connsiteY2-6" fmla="*/ 1824038 h 1824038"/>
              <a:gd name="connsiteX3-7" fmla="*/ 2371725 w 3600450"/>
              <a:gd name="connsiteY3-8" fmla="*/ 0 h 18240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600450" h="1824038">
                <a:moveTo>
                  <a:pt x="2371725" y="0"/>
                </a:moveTo>
                <a:lnTo>
                  <a:pt x="3600450" y="1824038"/>
                </a:lnTo>
                <a:lnTo>
                  <a:pt x="0" y="1824038"/>
                </a:lnTo>
                <a:lnTo>
                  <a:pt x="2371725" y="0"/>
                </a:lnTo>
                <a:close/>
              </a:path>
            </a:pathLst>
          </a:custGeom>
          <a:gradFill>
            <a:gsLst>
              <a:gs pos="59000">
                <a:schemeClr val="accent4">
                  <a:lumMod val="60000"/>
                  <a:lumOff val="40000"/>
                  <a:alpha val="0"/>
                </a:schemeClr>
              </a:gs>
              <a:gs pos="3000">
                <a:schemeClr val="accent4">
                  <a:lumMod val="60000"/>
                  <a:lumOff val="40000"/>
                  <a:alpha val="40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 useBgFill="1">
        <p:nvSpPr>
          <p:cNvPr id="15" name="六边形 10"/>
          <p:cNvSpPr/>
          <p:nvPr>
            <p:custDataLst>
              <p:tags r:id="rId6"/>
            </p:custDataLst>
          </p:nvPr>
        </p:nvSpPr>
        <p:spPr>
          <a:xfrm>
            <a:off x="4662362" y="2716353"/>
            <a:ext cx="2868415" cy="2484120"/>
          </a:xfrm>
          <a:prstGeom prst="hexagon">
            <a:avLst>
              <a:gd name="adj" fmla="val 28868"/>
              <a:gd name="vf" fmla="val 115470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六边形 1"/>
          <p:cNvSpPr/>
          <p:nvPr>
            <p:custDataLst>
              <p:tags r:id="rId7"/>
            </p:custDataLst>
          </p:nvPr>
        </p:nvSpPr>
        <p:spPr>
          <a:xfrm>
            <a:off x="4878907" y="2903687"/>
            <a:ext cx="2435161" cy="2108911"/>
          </a:xfrm>
          <a:prstGeom prst="hexagon">
            <a:avLst>
              <a:gd name="adj" fmla="val 28868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lt1"/>
                </a:solidFill>
                <a:latin typeface="Verdana" panose="020B0604030504040204" charset="0"/>
                <a:cs typeface="Verdana" panose="020B0604030504040204" charset="0"/>
                <a:sym typeface="+mn-ea"/>
              </a:rPr>
              <a:t>Буллиты:</a:t>
            </a:r>
            <a:endParaRPr lang="en-US" sz="2000" b="1" dirty="0">
              <a:solidFill>
                <a:schemeClr val="lt1"/>
              </a:solidFill>
              <a:latin typeface="Verdana" panose="020B0604030504040204" charset="0"/>
              <a:cs typeface="Verdana" panose="020B0604030504040204" charset="0"/>
              <a:sym typeface="+mn-ea"/>
            </a:endParaRPr>
          </a:p>
        </p:txBody>
      </p:sp>
      <p:sp>
        <p:nvSpPr>
          <p:cNvPr id="17" name="矩形 2"/>
          <p:cNvSpPr/>
          <p:nvPr>
            <p:custDataLst>
              <p:tags r:id="rId8"/>
            </p:custDataLst>
          </p:nvPr>
        </p:nvSpPr>
        <p:spPr>
          <a:xfrm>
            <a:off x="695325" y="1549801"/>
            <a:ext cx="3492169" cy="18664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Распознавание образов: лица, отпечатки пальцев, медицинские снимки</a:t>
            </a:r>
            <a:r>
              <a:rPr lang="ru-RU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20" name="矩形 3"/>
          <p:cNvSpPr/>
          <p:nvPr>
            <p:custDataLst>
              <p:tags r:id="rId9"/>
            </p:custDataLst>
          </p:nvPr>
        </p:nvSpPr>
        <p:spPr>
          <a:xfrm>
            <a:off x="695325" y="4410615"/>
            <a:ext cx="3492169" cy="186642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Автономный транспорт: детекция пешеходов, знаков, разметки</a:t>
            </a:r>
            <a:r>
              <a:rPr lang="ru-RU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21" name="矩形 4"/>
          <p:cNvSpPr/>
          <p:nvPr>
            <p:custDataLst>
              <p:tags r:id="rId10"/>
            </p:custDataLst>
          </p:nvPr>
        </p:nvSpPr>
        <p:spPr>
          <a:xfrm>
            <a:off x="7761605" y="4218940"/>
            <a:ext cx="3739515" cy="205803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Наш проект: детекция нарушений парковки — задача компьютерного зрения, подраздел распознавания образов</a:t>
            </a:r>
            <a:r>
              <a:rPr lang="ru-RU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22" name="矩形 5"/>
          <p:cNvSpPr/>
          <p:nvPr>
            <p:custDataLst>
              <p:tags r:id="rId11"/>
            </p:custDataLst>
          </p:nvPr>
        </p:nvSpPr>
        <p:spPr>
          <a:xfrm>
            <a:off x="8008973" y="1549801"/>
            <a:ext cx="3492169" cy="1868052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lnSpcReduction="20000"/>
          </a:bodyPr>
          <a:p>
            <a:pPr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Медицина: анализ рентгеновских снимков, КТ и МРТ, выявление опухолей на ранних стадиях</a:t>
            </a:r>
            <a:r>
              <a:rPr lang="ru-RU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Использованные и</a:t>
            </a:r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нструменты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graphicFrame>
        <p:nvGraphicFramePr>
          <p:cNvPr id="4" name="Таблица 3"/>
          <p:cNvGraphicFramePr/>
          <p:nvPr/>
        </p:nvGraphicFramePr>
        <p:xfrm>
          <a:off x="694690" y="1291590"/>
          <a:ext cx="8669655" cy="5217795"/>
        </p:xfrm>
        <a:graphic>
          <a:graphicData uri="http://schemas.openxmlformats.org/drawingml/2006/table">
            <a:tbl>
              <a:tblPr/>
              <a:tblGrid>
                <a:gridCol w="4078605"/>
                <a:gridCol w="4591050"/>
              </a:tblGrid>
              <a:tr h="572135">
                <a:tc>
                  <a:txBody>
                    <a:bodyPr/>
                    <a:p>
                      <a:r>
                        <a:rPr lang="en-US" altLang="zh-CN" sz="2000" b="0">
                          <a:latin typeface="Verdana" panose="020B0604030504040204" charset="0"/>
                          <a:cs typeface="Verdana" panose="020B0604030504040204" charset="0"/>
                        </a:rPr>
                        <a:t>Компонент</a:t>
                      </a:r>
                      <a:endParaRPr lang="en-US" altLang="zh-CN" sz="2000" b="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Инструмент / Библиотека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35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Язык программирования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Python 3.12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Машинное обучение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PyTorch 2.6, Ultralytics 8.4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Модель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YOLO11m‑seg (22.3 млн параметров)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35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Разметка данных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  <a:hlinkClick r:id="rId2"/>
                        </a:rPr>
                        <a:t>makesense.ai</a:t>
                      </a:r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 (полигоны)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  <a:hlinkClick r:id="rId2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Веб-интерфейс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Flask, HTML5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Обработка изображений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OpenCV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2135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Аугментации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Mosaic, MixUp, Copy‑Paste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p>
                      <a:r>
                        <a:rPr lang="en-US" altLang="zh-CN" sz="2000">
                          <a:latin typeface="Verdana" panose="020B0604030504040204" charset="0"/>
                          <a:cs typeface="Verdana" panose="020B0604030504040204" charset="0"/>
                        </a:rPr>
                        <a:t>GPU</a:t>
                      </a:r>
                      <a:endParaRPr lang="en-US" altLang="zh-CN" sz="2000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NVIDIA GeForce RTX 3050 Ti (4 ГБ)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Изображение 5"/>
          <p:cNvPicPr/>
          <p:nvPr/>
        </p:nvPicPr>
        <p:blipFill>
          <a:blip r:embed="rId3"/>
          <a:stretch>
            <a:fillRect/>
          </a:stretch>
        </p:blipFill>
        <p:spPr>
          <a:xfrm>
            <a:off x="8454390" y="1319530"/>
            <a:ext cx="2296795" cy="2216150"/>
          </a:xfrm>
          <a:prstGeom prst="rect">
            <a:avLst/>
          </a:prstGeom>
        </p:spPr>
      </p:pic>
      <p:pic>
        <p:nvPicPr>
          <p:cNvPr id="7" name="Изображение 6"/>
          <p:cNvPicPr/>
          <p:nvPr/>
        </p:nvPicPr>
        <p:blipFill>
          <a:blip r:embed="rId3"/>
          <a:stretch>
            <a:fillRect/>
          </a:stretch>
        </p:blipFill>
        <p:spPr>
          <a:xfrm>
            <a:off x="9364345" y="3535680"/>
            <a:ext cx="2613660" cy="29724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Как росла точность модели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27380" y="1351280"/>
            <a:ext cx="4947920" cy="680085"/>
          </a:xfrm>
        </p:spPr>
        <p:txBody>
          <a:bodyPr/>
          <a:p>
            <a:pPr marL="0" indent="0">
              <a:buNone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(таблица лучших метрик </a:t>
            </a:r>
            <a:r>
              <a:rPr lang="en-US" altLang="ru-RU" sz="2000">
                <a:latin typeface="Verdana" panose="020B0604030504040204" charset="0"/>
                <a:cs typeface="Verdana" panose="020B0604030504040204" charset="0"/>
              </a:rPr>
              <a:t>mixed_v3):</a:t>
            </a: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01140" y="2200910"/>
            <a:ext cx="1129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ru-RU" altLang="en-US"/>
          </a:p>
        </p:txBody>
      </p:sp>
      <p:graphicFrame>
        <p:nvGraphicFramePr>
          <p:cNvPr id="5" name="Таблица 4"/>
          <p:cNvGraphicFramePr/>
          <p:nvPr>
            <p:custDataLst>
              <p:tags r:id="rId3"/>
            </p:custDataLst>
          </p:nvPr>
        </p:nvGraphicFramePr>
        <p:xfrm>
          <a:off x="694690" y="2031365"/>
          <a:ext cx="11081385" cy="4308475"/>
        </p:xfrm>
        <a:graphic>
          <a:graphicData uri="http://schemas.openxmlformats.org/drawingml/2006/table">
            <a:tbl>
              <a:tblPr/>
              <a:tblGrid>
                <a:gridCol w="3693795"/>
                <a:gridCol w="3693795"/>
                <a:gridCol w="3693795"/>
              </a:tblGrid>
              <a:tr h="861695"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Класс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Mask mAP50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Box mAP50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1695"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Все классы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0.971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0.986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1695"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Дорога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0.949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0.978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1695"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Тротуар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0.982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0.989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1695"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Автомобиль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0.983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2000" i="1">
                          <a:latin typeface="Verdana" panose="020B0604030504040204" charset="0"/>
                          <a:cs typeface="Verdana" panose="020B0604030504040204" charset="0"/>
                        </a:rPr>
                        <a:t>0.992</a:t>
                      </a:r>
                      <a:endParaRPr lang="en-US" altLang="zh-CN" sz="2000" i="1">
                        <a:latin typeface="Verdana" panose="020B0604030504040204" charset="0"/>
                        <a:cs typeface="Verdana" panose="020B060403050404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690" y="163195"/>
            <a:ext cx="10800080" cy="754380"/>
          </a:xfrm>
        </p:spPr>
        <p:txBody>
          <a:bodyPr>
            <a:normAutofit fontScale="90000"/>
          </a:bodyPr>
          <a:p>
            <a:r>
              <a:rPr lang="en-US" altLang="en-US" sz="3110">
                <a:latin typeface="Verdana" panose="020B0604030504040204" charset="0"/>
                <a:cs typeface="Verdana" panose="020B0604030504040204" charset="0"/>
              </a:rPr>
              <a:t>График прогресса по этапам :</a:t>
            </a:r>
            <a:br>
              <a:rPr lang="en-US" altLang="en-US" sz="3110">
                <a:latin typeface="Verdana" panose="020B0604030504040204" charset="0"/>
                <a:cs typeface="Verdana" panose="020B0604030504040204" charset="0"/>
              </a:rPr>
            </a:br>
            <a:endParaRPr lang="en-US" altLang="en-US" sz="3110">
              <a:latin typeface="Verdana" panose="020B0604030504040204" charset="0"/>
              <a:cs typeface="Verdana" panose="020B0604030504040204" charset="0"/>
            </a:endParaRPr>
          </a:p>
        </p:txBody>
      </p:sp>
      <p:graphicFrame>
        <p:nvGraphicFramePr>
          <p:cNvPr id="6" name="Замещающее содержимое 5"/>
          <p:cNvGraphicFramePr/>
          <p:nvPr>
            <p:ph idx="1"/>
            <p:custDataLst>
              <p:tags r:id="rId3"/>
            </p:custDataLst>
          </p:nvPr>
        </p:nvGraphicFramePr>
        <p:xfrm>
          <a:off x="210185" y="1520825"/>
          <a:ext cx="11772265" cy="4952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Текстовое поле 7"/>
          <p:cNvSpPr txBox="1"/>
          <p:nvPr/>
        </p:nvSpPr>
        <p:spPr>
          <a:xfrm>
            <a:off x="631190" y="699770"/>
            <a:ext cx="9593580" cy="704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Точность сегментации тротуаров выросла с 0.9% до 98.2% благодаря итеративному дообучению на собственных данных.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Валидационные кривые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4" name="Изображение 3" descr="Screenshot 2026-05-19 1145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55" y="1782445"/>
            <a:ext cx="10800715" cy="43954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Как </a:t>
            </a:r>
            <a:r>
              <a:rPr lang="en-US" altLang="ru-RU" sz="2800">
                <a:latin typeface="Verdana" panose="020B0604030504040204" charset="0"/>
                <a:cs typeface="Verdana" panose="020B0604030504040204" charset="0"/>
              </a:rPr>
              <a:t>ParkGuard AI </a:t>
            </a:r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видит нарушения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5" name="Изображение 4" descr="result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890" y="1456690"/>
            <a:ext cx="2849880" cy="1565275"/>
          </a:xfrm>
          <a:prstGeom prst="rect">
            <a:avLst/>
          </a:prstGeom>
        </p:spPr>
      </p:pic>
      <p:pic>
        <p:nvPicPr>
          <p:cNvPr id="6" name="Изображение 5" descr="result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155" y="4646295"/>
            <a:ext cx="2889885" cy="1618615"/>
          </a:xfrm>
          <a:prstGeom prst="rect">
            <a:avLst/>
          </a:prstGeom>
        </p:spPr>
      </p:pic>
      <p:pic>
        <p:nvPicPr>
          <p:cNvPr id="7" name="Изображение 6" descr="result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1466850"/>
            <a:ext cx="2870200" cy="1576070"/>
          </a:xfrm>
          <a:prstGeom prst="rect">
            <a:avLst/>
          </a:prstGeom>
        </p:spPr>
      </p:pic>
      <p:pic>
        <p:nvPicPr>
          <p:cNvPr id="8" name="Изображение 7" descr="result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5840" y="4646295"/>
            <a:ext cx="2868930" cy="1613535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694690" y="1912620"/>
            <a:ext cx="4267835" cy="4352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>
              <a:buAutoNum type="arabicPeriod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Явное нарушение (машина на тротуаре) — красная рамка, подпись «Нарушение».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marL="457200" indent="-457200">
              <a:buAutoNum type="arabicPeriod"/>
            </a:pP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pPr marL="457200" indent="-457200">
              <a:buAutoNum type="arabicPeriod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Правильная парковка — зелёная рамка, подпись «ОК».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  <a:p>
            <a:pPr marL="457200" indent="-457200">
              <a:buAutoNum type="arabicPeriod"/>
            </a:pP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pPr marL="457200" indent="-457200">
              <a:buAutoNum type="arabicPeriod"/>
            </a:pP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Сложный случай (машина близко к тротуару, но не на нём) — зелёная рамка.</a:t>
            </a:r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4725" y="360000"/>
            <a:ext cx="10800000" cy="720000"/>
          </a:xfrm>
        </p:spPr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Веб-интерфейс </a:t>
            </a:r>
            <a:r>
              <a:rPr lang="en-US" altLang="ru-RU" sz="2800">
                <a:latin typeface="Verdana" panose="020B0604030504040204" charset="0"/>
                <a:cs typeface="Verdana" panose="020B0604030504040204" charset="0"/>
              </a:rPr>
              <a:t>ParkGuard AI</a:t>
            </a:r>
            <a:endParaRPr lang="en-US" altLang="ru-RU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94615" y="1247775"/>
            <a:ext cx="4075430" cy="5314950"/>
          </a:xfrm>
        </p:spPr>
        <p:txBody>
          <a:bodyPr>
            <a:noAutofit/>
          </a:bodyPr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Загрузка фото – выбор файла с компьютера</a:t>
            </a: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Настройка порогов – пересечение масок, </a:t>
            </a:r>
            <a:r>
              <a:rPr lang="en-US" altLang="ru-RU" sz="2000">
                <a:latin typeface="Verdana" panose="020B0604030504040204" charset="0"/>
                <a:cs typeface="Verdana" panose="020B0604030504040204" charset="0"/>
              </a:rPr>
              <a:t>IoU </a:t>
            </a: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боксов, уверенность</a:t>
            </a: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Тщательная проверка (</a:t>
            </a:r>
            <a:r>
              <a:rPr lang="en-US" altLang="ru-RU" sz="2000">
                <a:latin typeface="Verdana" panose="020B0604030504040204" charset="0"/>
                <a:cs typeface="Verdana" panose="020B0604030504040204" charset="0"/>
              </a:rPr>
              <a:t>Deep Check) – </a:t>
            </a:r>
            <a:r>
              <a:rPr lang="en-US" altLang="en-US" sz="2000">
                <a:latin typeface="Verdana" panose="020B0604030504040204" charset="0"/>
                <a:cs typeface="Verdana" panose="020B0604030504040204" charset="0"/>
              </a:rPr>
              <a:t>двойной прогон модели для максимальной точности</a:t>
            </a: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endParaRPr lang="en-US" altLang="en-US" sz="2000">
              <a:latin typeface="Verdana" panose="020B0604030504040204" charset="0"/>
              <a:cs typeface="Verdana" panose="020B06040305040402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595" y="1247775"/>
            <a:ext cx="7767955" cy="53149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38870" y="360000"/>
            <a:ext cx="10800000" cy="720000"/>
          </a:xfrm>
        </p:spPr>
        <p:txBody>
          <a:bodyPr>
            <a:normAutofit/>
          </a:bodyPr>
          <a:p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Работа </a:t>
            </a:r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ParkGuard AI </a:t>
            </a:r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в веб-интерфейсе</a:t>
            </a:r>
            <a:endParaRPr lang="ru-RU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38760" y="1487805"/>
            <a:ext cx="4338955" cy="4813300"/>
          </a:xfrm>
        </p:spPr>
        <p:txBody>
          <a:bodyPr/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  <a:sym typeface="+mn-ea"/>
              </a:rPr>
              <a:t>Результат за секунды – изображение с цветными рамками и масками</a:t>
            </a:r>
            <a:endParaRPr lang="en-US" altLang="ru-RU" sz="2000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2000">
                <a:latin typeface="Verdana" panose="020B0604030504040204" charset="0"/>
                <a:cs typeface="Verdana" panose="020B0604030504040204" charset="0"/>
                <a:sym typeface="+mn-ea"/>
              </a:rPr>
              <a:t>Статистика – количество дорог, тротуаров, машин и нарушителей</a:t>
            </a:r>
            <a:endParaRPr lang="ru-RU" altLang="en-US" sz="2000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715" y="1488440"/>
            <a:ext cx="7448550" cy="48126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28710" y="142195"/>
            <a:ext cx="10800000" cy="720000"/>
          </a:xfrm>
        </p:spPr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С какими трудностями </a:t>
            </a:r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столкнулся</a:t>
            </a:r>
            <a:endParaRPr lang="ru-RU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28600" y="959485"/>
            <a:ext cx="11537950" cy="5714365"/>
          </a:xfrm>
        </p:spPr>
        <p:txBody>
          <a:bodyPr>
            <a:normAutofit fontScale="25000"/>
          </a:bodyPr>
          <a:p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Проблема 1 – Качество разметки:</a:t>
            </a:r>
            <a:endParaRPr lang="en-US" altLang="ru-RU" sz="6400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   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Неточные контуры тротуара → пропуск реальных нарушений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    Решение: итеративная переразметка проблемных кадров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Проблема 2 – Ложные срабатывания</a:t>
            </a:r>
            <a:r>
              <a:rPr lang="en-US" altLang="ru-RU" sz="6400">
                <a:latin typeface="Verdana" panose="020B0604030504040204" charset="0"/>
                <a:cs typeface="Verdana" panose="020B0604030504040204" charset="0"/>
              </a:rPr>
              <a:t>:</a:t>
            </a:r>
            <a:endParaRPr lang="en-US" altLang="ru-RU" sz="6400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   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Машина на дороге перед тротуаром принималась за нарушителя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    Решение: пространственный фильтр (учёт перспективы)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Проблема 3 – Дисбаланс классов</a:t>
            </a:r>
            <a:r>
              <a:rPr lang="en-US" altLang="ru-RU" sz="6400">
                <a:latin typeface="Verdana" panose="020B0604030504040204" charset="0"/>
                <a:cs typeface="Verdana" panose="020B0604030504040204" charset="0"/>
              </a:rPr>
              <a:t>:</a:t>
            </a:r>
            <a:endParaRPr lang="en-US" altLang="ru-RU" sz="6400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   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Тротуаров меньше, чем дорог и машин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    Решение: добавление данных из </a:t>
            </a:r>
            <a:r>
              <a:rPr lang="en-US" altLang="ru-RU" sz="6400" i="1">
                <a:latin typeface="Verdana" panose="020B0604030504040204" charset="0"/>
                <a:cs typeface="Verdana" panose="020B0604030504040204" charset="0"/>
              </a:rPr>
              <a:t>Mapillary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и </a:t>
            </a:r>
            <a:r>
              <a:rPr lang="en-US" altLang="ru-RU" sz="6400" i="1">
                <a:latin typeface="Verdana" panose="020B0604030504040204" charset="0"/>
                <a:cs typeface="Verdana" panose="020B0604030504040204" charset="0"/>
              </a:rPr>
              <a:t>IDD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Проблема </a:t>
            </a:r>
            <a:r>
              <a:rPr lang="ru-RU" altLang="en-US" sz="6400">
                <a:latin typeface="Verdana" panose="020B0604030504040204" charset="0"/>
                <a:cs typeface="Verdana" panose="020B0604030504040204" charset="0"/>
              </a:rPr>
              <a:t>4</a:t>
            </a:r>
            <a:r>
              <a:rPr lang="en-US" altLang="en-US" sz="6400">
                <a:latin typeface="Verdana" panose="020B0604030504040204" charset="0"/>
                <a:cs typeface="Verdana" panose="020B0604030504040204" charset="0"/>
              </a:rPr>
              <a:t> – Ограниченные вычислительные ресурсы</a:t>
            </a:r>
            <a:r>
              <a:rPr lang="en-US" altLang="ru-RU" sz="6400">
                <a:latin typeface="Verdana" panose="020B0604030504040204" charset="0"/>
                <a:cs typeface="Verdana" panose="020B0604030504040204" charset="0"/>
              </a:rPr>
              <a:t>:</a:t>
            </a:r>
            <a:endParaRPr lang="en-US" altLang="ru-RU" sz="6400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ru-RU" sz="6400">
                <a:latin typeface="Verdana" panose="020B0604030504040204" charset="0"/>
                <a:cs typeface="Verdana" panose="020B0604030504040204" charset="0"/>
              </a:rPr>
              <a:t>    </a:t>
            </a:r>
            <a:r>
              <a:rPr lang="en-US" altLang="ru-RU" sz="6400" i="1">
                <a:latin typeface="Verdana" panose="020B0604030504040204" charset="0"/>
                <a:cs typeface="Verdana" panose="020B0604030504040204" charset="0"/>
              </a:rPr>
              <a:t>NVIDIA RTX 3050 Ti (4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ГБ) → </a:t>
            </a:r>
            <a:r>
              <a:rPr lang="en-US" altLang="ru-RU" sz="6400" i="1">
                <a:latin typeface="Verdana" panose="020B0604030504040204" charset="0"/>
                <a:cs typeface="Verdana" panose="020B0604030504040204" charset="0"/>
              </a:rPr>
              <a:t>batch </a:t>
            </a: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не более 4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en-US" altLang="ru-RU" sz="6400" i="1">
              <a:latin typeface="Verdana" panose="020B0604030504040204" charset="0"/>
              <a:cs typeface="Verdana" panose="020B0604030504040204" charset="0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en-US" sz="6400" i="1">
                <a:latin typeface="Verdana" panose="020B0604030504040204" charset="0"/>
                <a:cs typeface="Verdana" panose="020B0604030504040204" charset="0"/>
              </a:rPr>
              <a:t>    Решение: оптимизация параметров обучения, кэширование</a:t>
            </a:r>
            <a:r>
              <a:rPr lang="ru-RU" altLang="en-US" sz="6400" i="1">
                <a:latin typeface="Verdana" panose="020B0604030504040204" charset="0"/>
                <a:cs typeface="Verdana" panose="020B0604030504040204" charset="0"/>
              </a:rPr>
              <a:t>.</a:t>
            </a:r>
            <a:endParaRPr lang="ru-RU" altLang="en-US" sz="6400" i="1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7820660" y="960120"/>
            <a:ext cx="3945255" cy="5713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altLang="en-US">
                <a:latin typeface="Verdana" panose="020B0604030504040204" charset="0"/>
                <a:cs typeface="Verdana" panose="020B0604030504040204" charset="0"/>
              </a:rPr>
              <a:t>Проблема 5 - </a:t>
            </a:r>
            <a:r>
              <a:rPr lang="en-US" altLang="en-US">
                <a:latin typeface="Verdana" panose="020B0604030504040204" charset="0"/>
                <a:cs typeface="Verdana" panose="020B0604030504040204" charset="0"/>
              </a:rPr>
              <a:t>Учёт нюансов ПДД:</a:t>
            </a:r>
            <a:endParaRPr lang="en-US" altLang="en-US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Даже если колёса не заехали на тротуар, кузов может нависать над пешеходной зоной, что тоже считается нарушением.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ru-RU" sz="1600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Модель не всегда корректно обрабатывает такие случаи, так как разметка «нависания» сложнее стандартного пересечения машин.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ru-RU" sz="1600">
              <a:latin typeface="Verdana" panose="020B0604030504040204" charset="0"/>
              <a:cs typeface="Verdana" panose="020B0604030504040204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sz="1600">
                <a:latin typeface="Verdana" panose="020B0604030504040204" charset="0"/>
                <a:cs typeface="Verdana" panose="020B0604030504040204" charset="0"/>
              </a:rPr>
              <a:t>Решение: разметка автомобилей по их проекции на землю (включая свесы кузова), что позволяет алгоритму фиксировать оба типа нарушений.</a:t>
            </a:r>
            <a:endParaRPr lang="en-US" altLang="en-US" sz="1600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Что создал и куда дви</a:t>
            </a:r>
            <a:r>
              <a:rPr lang="ru-RU" altLang="en-US" sz="2800">
                <a:latin typeface="Verdana" panose="020B0604030504040204" charset="0"/>
                <a:cs typeface="Verdana" panose="020B0604030504040204" charset="0"/>
              </a:rPr>
              <a:t>гаюсь</a:t>
            </a:r>
            <a:r>
              <a:rPr lang="en-US" altLang="en-US" sz="2800">
                <a:latin typeface="Verdana" panose="020B0604030504040204" charset="0"/>
                <a:cs typeface="Verdana" panose="020B0604030504040204" charset="0"/>
              </a:rPr>
              <a:t> дальше</a:t>
            </a:r>
            <a:endParaRPr lang="en-US" altLang="en-US" sz="2800">
              <a:latin typeface="Verdana" panose="020B0604030504040204" charset="0"/>
              <a:cs typeface="Verdana" panose="020B060403050404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25000"/>
          </a:bodyPr>
          <a:p>
            <a:r>
              <a:rPr lang="en-US" altLang="en-US" sz="7200">
                <a:latin typeface="Verdana" panose="020B0604030504040204" charset="0"/>
                <a:cs typeface="Verdana" panose="020B0604030504040204" charset="0"/>
              </a:rPr>
              <a:t>Достижения:</a:t>
            </a:r>
            <a:endParaRPr lang="en-US" altLang="ru-RU" sz="7200">
              <a:latin typeface="Verdana" panose="020B0604030504040204" charset="0"/>
              <a:cs typeface="Verdana" panose="020B0604030504040204" charset="0"/>
            </a:endParaRPr>
          </a:p>
          <a:p>
            <a:pPr marL="0" indent="0">
              <a:buNone/>
            </a:pPr>
            <a:r>
              <a:rPr lang="en-US" altLang="en-US" sz="7200">
                <a:latin typeface="Verdana" panose="020B0604030504040204" charset="0"/>
                <a:cs typeface="Verdana" panose="020B0604030504040204" charset="0"/>
              </a:rPr>
              <a:t> </a:t>
            </a:r>
            <a:r>
              <a:rPr lang="ru-RU" altLang="en-US" sz="7200">
                <a:latin typeface="Verdana" panose="020B0604030504040204" charset="0"/>
                <a:cs typeface="Verdana" panose="020B0604030504040204" charset="0"/>
              </a:rPr>
              <a:t>     </a:t>
            </a: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✅ Собрано и размечено 865 изображений российских дворов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✅ Обучена модель сегментации с точностью </a:t>
            </a:r>
            <a:r>
              <a:rPr lang="en-US" altLang="ru-RU" sz="7200" i="1">
                <a:latin typeface="Verdana" panose="020B0604030504040204" charset="0"/>
                <a:cs typeface="Verdana" panose="020B0604030504040204" charset="0"/>
              </a:rPr>
              <a:t>Mask mAP50 &gt; 97%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✅ Тротуар детектируется с точностью 98.2% (рост с 0.9%)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✅ Разработан веб-интерфейс для загрузки фото и анализа нарушений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✅ Реализован пространственный фильтр для исключения ложных срабатываний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r>
              <a:rPr lang="en-US" altLang="en-US" sz="7200">
                <a:latin typeface="Verdana" panose="020B0604030504040204" charset="0"/>
                <a:cs typeface="Verdana" panose="020B0604030504040204" charset="0"/>
              </a:rPr>
              <a:t>Перспективы:</a:t>
            </a:r>
            <a:endParaRPr lang="en-US" altLang="ru-RU" sz="7200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zh-CN" altLang="en-US" sz="7200" i="1">
                <a:latin typeface="Verdana" panose="020B0604030504040204" charset="0"/>
                <a:cs typeface="Verdana" panose="020B0604030504040204" charset="0"/>
              </a:rPr>
              <a:t>🔜 </a:t>
            </a: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Добавление детекции знаков парковки для учёта разрешённых зон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zh-CN" altLang="en-US" sz="7200" i="1">
                <a:latin typeface="Verdana" panose="020B0604030504040204" charset="0"/>
                <a:cs typeface="Verdana" panose="020B0604030504040204" charset="0"/>
              </a:rPr>
              <a:t>🔜 </a:t>
            </a: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Интеграция с камерами видеонаблюдения (потоковое видео)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zh-CN" altLang="en-US" sz="7200" i="1">
                <a:latin typeface="Verdana" panose="020B0604030504040204" charset="0"/>
                <a:cs typeface="Verdana" panose="020B0604030504040204" charset="0"/>
              </a:rPr>
              <a:t>🔜 </a:t>
            </a: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Создание мобильного приложения для жителей</a:t>
            </a:r>
            <a:endParaRPr lang="en-US" altLang="ru-RU" sz="7200" i="1">
              <a:latin typeface="Verdana" panose="020B0604030504040204" charset="0"/>
              <a:cs typeface="Verdana" panose="020B0604030504040204" charset="0"/>
            </a:endParaRPr>
          </a:p>
          <a:p>
            <a:pPr marL="0" indent="457200">
              <a:buNone/>
            </a:pPr>
            <a:r>
              <a:rPr lang="zh-CN" altLang="en-US" sz="7200" i="1">
                <a:latin typeface="Verdana" panose="020B0604030504040204" charset="0"/>
                <a:cs typeface="Verdana" panose="020B0604030504040204" charset="0"/>
              </a:rPr>
              <a:t>🔜 </a:t>
            </a:r>
            <a:r>
              <a:rPr lang="en-US" altLang="en-US" sz="7200" i="1">
                <a:latin typeface="Verdana" panose="020B0604030504040204" charset="0"/>
                <a:cs typeface="Verdana" panose="020B0604030504040204" charset="0"/>
              </a:rPr>
              <a:t>Дообучение на зимних сценах (снег, грязь)</a:t>
            </a:r>
            <a:endParaRPr lang="en-US" altLang="en-US" sz="7200" i="1">
              <a:latin typeface="Verdana" panose="020B0604030504040204" charset="0"/>
              <a:cs typeface="Verdana" panose="020B060403050404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a"/>
  <p:tag name="KSO_WM_UNIT_INDEX" val="1"/>
  <p:tag name="KSO_WM_UNIT_ID" val="diagram20238358_1*a*1"/>
  <p:tag name="KSO_WM_TEMPLATE_CATEGORY" val="diagram"/>
  <p:tag name="KSO_WM_TEMPLATE_INDEX" val="20238358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8358_1*n_h_h_i*1_2_1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8358_1*n_h_h_i*1_2_2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8358_1*n_h_h_i*1_2_3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gradient&quot;:[{&quot;brightness&quot;:0.4000000059604645,&quot;colorType&quot;:1,&quot;foreColorIndex&quot;:5,&quot;pos&quot;:0.5899999737739563,&quot;transparency&quot;:1},{&quot;brightness&quot;:0.4000000059604645,&quot;colorType&quot;:1,&quot;foreColorIndex&quot;:5,&quot;pos&quot;:0.029999999329447746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4_1"/>
  <p:tag name="KSO_WM_UNIT_ID" val="diagram20238358_1*n_h_h_i*1_2_4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FILL_TYPE" val="1"/>
  <p:tag name="KSO_WM_UNIT_FILL_FORE_SCHEMECOLOR_INDEX" val="14"/>
  <p:tag name="KSO_WM_UNIT_FILL_FORE_SCHEMECOLOR_INDEX_BRIGHTNESS" val="0"/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8358_1*n_h_i*1_1_1"/>
  <p:tag name="KSO_WM_TEMPLATE_CATEGORY" val="diagram"/>
  <p:tag name="KSO_WM_TEMPLATE_INDEX" val="20238358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5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2"/>
  <p:tag name="KSO_WM_UNIT_ID" val="diagram20238358_1*n_h_a*1_1_2"/>
  <p:tag name="KSO_WM_TEMPLATE_CATEGORY" val="diagram"/>
  <p:tag name="KSO_WM_TEMPLATE_INDEX" val="20238358"/>
  <p:tag name="KSO_WM_UNIT_LAYERLEVEL" val="1_1_1"/>
  <p:tag name="KSO_WM_TAG_VERSION" val="3.0"/>
  <p:tag name="KSO_WM_BEAUTIFY_FLAG" val="#wm#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358_1*n_h_h_f*1_2_1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8358_1*n_h_h_f*1_2_3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4_1"/>
  <p:tag name="KSO_WM_UNIT_ID" val="diagram20238358_1*n_h_h_f*1_2_4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4"/>
  <p:tag name="KSO_WM_DIAGRAM_VIRTUALLY_FRAME" val="{&quot;height&quot;:372.23112086408935,&quot;left&quot;:54.75,&quot;top&quot;:122.02503011913646,&quot;width&quot;:850.851732283464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358_1*n_h_h_f*1_2_2_1"/>
  <p:tag name="KSO_WM_TEMPLATE_CATEGORY" val="diagram"/>
  <p:tag name="KSO_WM_TEMPLATE_INDEX" val="20238358"/>
  <p:tag name="KSO_WM_UNIT_LAYERLEVEL" val="1_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SPECIAL_SOURCE" val="bdnull"/>
  <p:tag name="KSO_WM_SLIDE_ID" val="diagram20238358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1"/>
  <p:tag name="KSO_WM_SLIDE_SIZE" val="850.791*372.231"/>
  <p:tag name="KSO_WM_SLIDE_POSITION" val="54.75*122.025"/>
  <p:tag name="KSO_WM_DIAGRAM_GROUP_CODE" val="n1-1"/>
  <p:tag name="KSO_WM_SLIDE_DIAGTYPE" val="n"/>
  <p:tag name="KSO_WM_TAG_VERSION" val="3.0"/>
  <p:tag name="KSO_WM_BEAUTIFY_FLAG" val="#wm#"/>
  <p:tag name="KSO_WM_TEMPLATE_CATEGORY" val="diagram"/>
  <p:tag name="KSO_WM_TEMPLATE_INDEX" val="20238358"/>
  <p:tag name="KSO_WM_SLIDE_LAYOUT" val="a_n"/>
  <p:tag name="KSO_WM_SLIDE_LAYOUT_CNT" val="1_1"/>
</p:tagLst>
</file>

<file path=ppt/tags/tag10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77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TABLE_ENDDRAG_ORIGIN_RECT" val="872*339"/>
  <p:tag name="TABLE_ENDDRAG_RECT" val="54*159*872*339"/>
</p:tagLst>
</file>

<file path=ppt/tags/tag11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5325</Words>
  <Application>WPS Presentation</Application>
  <PresentationFormat>宽屏</PresentationFormat>
  <Paragraphs>208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SimSun</vt:lpstr>
      <vt:lpstr>Wingdings</vt:lpstr>
      <vt:lpstr>Calibri Light</vt:lpstr>
      <vt:lpstr>Verdana</vt:lpstr>
      <vt:lpstr>Wingdings</vt:lpstr>
      <vt:lpstr>Microsoft YaHei</vt:lpstr>
      <vt:lpstr>Malgun Gothic</vt:lpstr>
      <vt:lpstr>Lato</vt:lpstr>
      <vt:lpstr>Segoe Print</vt:lpstr>
      <vt:lpstr>Arial Unicode MS</vt:lpstr>
      <vt:lpstr>Manrope ExtraBold</vt:lpstr>
      <vt:lpstr>Calibri</vt:lpstr>
      <vt:lpstr>Office Theme</vt:lpstr>
      <vt:lpstr>2_Office Theme</vt:lpstr>
      <vt:lpstr>ParkGuard AI – интеллектуальная система детекции нарушений парковки</vt:lpstr>
      <vt:lpstr>Актуальность работы</vt:lpstr>
      <vt:lpstr>Цель проекта:</vt:lpstr>
      <vt:lpstr>Проблематика и технологии</vt:lpstr>
      <vt:lpstr>Как устроена нейронная сеть внутри</vt:lpstr>
      <vt:lpstr>Где ещё применяют компьютерное зрение</vt:lpstr>
      <vt:lpstr>Использованные инструменты</vt:lpstr>
      <vt:lpstr>Как росла точность модели</vt:lpstr>
      <vt:lpstr>График прогресса по этапам : </vt:lpstr>
      <vt:lpstr>Валидационные кривые</vt:lpstr>
      <vt:lpstr>Как ParkGuard AI видит нарушения</vt:lpstr>
      <vt:lpstr>Веб-интерфейс ParkGuard AI</vt:lpstr>
      <vt:lpstr>Работа ParkGuard AI в веб-интерфейсе</vt:lpstr>
      <vt:lpstr>С какими трудностями столкнулся</vt:lpstr>
      <vt:lpstr>Что создал и куда двигаюсь дальше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_Claudfender_</cp:lastModifiedBy>
  <cp:revision>7</cp:revision>
  <dcterms:created xsi:type="dcterms:W3CDTF">2025-07-23T00:59:00Z</dcterms:created>
  <dcterms:modified xsi:type="dcterms:W3CDTF">2026-05-19T09:27:01Z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1049-12.1.0.26372</vt:lpwstr>
  </property>
  <property fmtid="{D5CDD505-2E9C-101B-9397-08002B2CF9AE}" pid="3" name="ICV">
    <vt:lpwstr>E9570D2E314C4FE9B5D2497FAA2293AB_13</vt:lpwstr>
  </property>
</Properties>
</file>